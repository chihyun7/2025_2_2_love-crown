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jKg5xS7t63d3hdYmezRiGdPrvP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customschemas.google.com/relationships/presentationmetadata" Target="meta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유사 게임 리서치로는 눈빛보내기와 몬스터 프롬이 있습니다. 먼저 눈빛보내기는 1인용 플래시게임으로 간단한 마우스 조작으로 맵을 돌아다니면서 </a:t>
            </a:r>
            <a:r>
              <a:rPr lang="ko-KR"/>
              <a:t>학교에 있는 남학생들을 매혹해 제한 시간 안에 최대한 높은 점수를 받는 게임입니다. 남학생들을 공략해서 점수를 올리는 방식에서 비슷한 메커니즘을 가지고 있고 몬스터 프롬은 연애 시뮬레이션 게임으로 공략 캐릭터의 호감도를 높여서 3주 뒤에 있을 파티의 파트너를 구하는 게임으로 짧은 플레이타임을 가지고 있으며 게임 도중에 등장하는 이벤트들을 진행하면서 캐릭터들의 호감도를 올리는 부분에서 핵심 게임 플레이 방식이 비슷하며, 멀티플레이도 가능해서 친구와의 경쟁도 가능하기 때문에 비슷한 요소가 많은 게임입니다.</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showMasterSp="0" type="title">
  <p:cSld name="TITLE">
    <p:spTree>
      <p:nvGrpSpPr>
        <p:cNvPr id="14" name="Shape 14"/>
        <p:cNvGrpSpPr/>
        <p:nvPr/>
      </p:nvGrpSpPr>
      <p:grpSpPr>
        <a:xfrm>
          <a:off x="0" y="0"/>
          <a:ext cx="0" cy="0"/>
          <a:chOff x="0" y="0"/>
          <a:chExt cx="0" cy="0"/>
        </a:xfrm>
      </p:grpSpPr>
      <p:sp>
        <p:nvSpPr>
          <p:cNvPr id="15" name="Google Shape;15;p10"/>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0"/>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0"/>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0"/>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1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cxnSp>
        <p:nvCxnSpPr>
          <p:cNvPr id="22" name="Google Shape;22;p10"/>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23" name="Shape 23"/>
        <p:cNvGrpSpPr/>
        <p:nvPr/>
      </p:nvGrpSpPr>
      <p:grpSpPr>
        <a:xfrm>
          <a:off x="0" y="0"/>
          <a:ext cx="0" cy="0"/>
          <a:chOff x="0" y="0"/>
          <a:chExt cx="0" cy="0"/>
        </a:xfrm>
      </p:grpSpPr>
      <p:sp>
        <p:nvSpPr>
          <p:cNvPr id="24" name="Google Shape;24;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6" name="Google Shape;26;p1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showMasterSp="0" type="secHead">
  <p:cSld name="SECTION_HEADER">
    <p:bg>
      <p:bgPr>
        <a:solidFill>
          <a:schemeClr val="lt1"/>
        </a:solidFill>
      </p:bgPr>
    </p:bg>
    <p:spTree>
      <p:nvGrpSpPr>
        <p:cNvPr id="29" name="Shape 29"/>
        <p:cNvGrpSpPr/>
        <p:nvPr/>
      </p:nvGrpSpPr>
      <p:grpSpPr>
        <a:xfrm>
          <a:off x="0" y="0"/>
          <a:ext cx="0" cy="0"/>
          <a:chOff x="0" y="0"/>
          <a:chExt cx="0" cy="0"/>
        </a:xfrm>
      </p:grpSpPr>
      <p:sp>
        <p:nvSpPr>
          <p:cNvPr id="30" name="Google Shape;30;p1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2"/>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2"/>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4" name="Google Shape;34;p1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cxnSp>
        <p:nvCxnSpPr>
          <p:cNvPr id="37" name="Google Shape;37;p12"/>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type="twoObj">
  <p:cSld name="TWO_OBJECTS">
    <p:spTree>
      <p:nvGrpSpPr>
        <p:cNvPr id="38" name="Shape 38"/>
        <p:cNvGrpSpPr/>
        <p:nvPr/>
      </p:nvGrpSpPr>
      <p:grpSpPr>
        <a:xfrm>
          <a:off x="0" y="0"/>
          <a:ext cx="0" cy="0"/>
          <a:chOff x="0" y="0"/>
          <a:chExt cx="0" cy="0"/>
        </a:xfrm>
      </p:grpSpPr>
      <p:sp>
        <p:nvSpPr>
          <p:cNvPr id="39" name="Google Shape;39;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3"/>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1" name="Google Shape;41;p13"/>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2" name="Google Shape;42;p1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45" name="Shape 45"/>
        <p:cNvGrpSpPr/>
        <p:nvPr/>
      </p:nvGrpSpPr>
      <p:grpSpPr>
        <a:xfrm>
          <a:off x="0" y="0"/>
          <a:ext cx="0" cy="0"/>
          <a:chOff x="0" y="0"/>
          <a:chExt cx="0" cy="0"/>
        </a:xfrm>
      </p:grpSpPr>
      <p:sp>
        <p:nvSpPr>
          <p:cNvPr id="46" name="Google Shape;46;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4"/>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8" name="Google Shape;48;p14"/>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9" name="Google Shape;49;p14"/>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0" name="Google Shape;50;p14"/>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1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54" name="Shape 54"/>
        <p:cNvGrpSpPr/>
        <p:nvPr/>
      </p:nvGrpSpPr>
      <p:grpSpPr>
        <a:xfrm>
          <a:off x="0" y="0"/>
          <a:ext cx="0" cy="0"/>
          <a:chOff x="0" y="0"/>
          <a:chExt cx="0" cy="0"/>
        </a:xfrm>
      </p:grpSpPr>
      <p:sp>
        <p:nvSpPr>
          <p:cNvPr id="55" name="Google Shape;55;p1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showMasterSp="0" type="blank">
  <p:cSld name="BLANK">
    <p:spTree>
      <p:nvGrpSpPr>
        <p:cNvPr id="59" name="Shape 59"/>
        <p:cNvGrpSpPr/>
        <p:nvPr/>
      </p:nvGrpSpPr>
      <p:grpSpPr>
        <a:xfrm>
          <a:off x="0" y="0"/>
          <a:ext cx="0" cy="0"/>
          <a:chOff x="0" y="0"/>
          <a:chExt cx="0" cy="0"/>
        </a:xfrm>
      </p:grpSpPr>
      <p:sp>
        <p:nvSpPr>
          <p:cNvPr id="60" name="Google Shape;60;p1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showMasterSp="0" type="objTx">
  <p:cSld name="OBJECT_WITH_CAPTION_TEXT">
    <p:spTree>
      <p:nvGrpSpPr>
        <p:cNvPr id="65" name="Shape 65"/>
        <p:cNvGrpSpPr/>
        <p:nvPr/>
      </p:nvGrpSpPr>
      <p:grpSpPr>
        <a:xfrm>
          <a:off x="0" y="0"/>
          <a:ext cx="0" cy="0"/>
          <a:chOff x="0" y="0"/>
          <a:chExt cx="0" cy="0"/>
        </a:xfrm>
      </p:grpSpPr>
      <p:sp>
        <p:nvSpPr>
          <p:cNvPr id="66" name="Google Shape;66;p17"/>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7"/>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7"/>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7"/>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17"/>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17"/>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7"/>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showMasterSp="0" type="picTx">
  <p:cSld name="PICTURE_WITH_CAPTION_TEXT">
    <p:spTree>
      <p:nvGrpSpPr>
        <p:cNvPr id="74" name="Shape 74"/>
        <p:cNvGrpSpPr/>
        <p:nvPr/>
      </p:nvGrpSpPr>
      <p:grpSpPr>
        <a:xfrm>
          <a:off x="0" y="0"/>
          <a:ext cx="0" cy="0"/>
          <a:chOff x="0" y="0"/>
          <a:chExt cx="0" cy="0"/>
        </a:xfrm>
      </p:grpSpPr>
      <p:sp>
        <p:nvSpPr>
          <p:cNvPr id="75" name="Google Shape;75;p18"/>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8"/>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8"/>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8"/>
          <p:cNvSpPr/>
          <p:nvPr>
            <p:ph idx="2" type="pic"/>
          </p:nvPr>
        </p:nvSpPr>
        <p:spPr>
          <a:xfrm>
            <a:off x="15" y="0"/>
            <a:ext cx="12191985" cy="4915076"/>
          </a:xfrm>
          <a:prstGeom prst="rect">
            <a:avLst/>
          </a:prstGeom>
          <a:noFill/>
          <a:ln>
            <a:noFill/>
          </a:ln>
        </p:spPr>
      </p:sp>
      <p:sp>
        <p:nvSpPr>
          <p:cNvPr id="79" name="Google Shape;79;p18"/>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1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83" name="Shape 83"/>
        <p:cNvGrpSpPr/>
        <p:nvPr/>
      </p:nvGrpSpPr>
      <p:grpSpPr>
        <a:xfrm>
          <a:off x="0" y="0"/>
          <a:ext cx="0" cy="0"/>
          <a:chOff x="0" y="0"/>
          <a:chExt cx="0" cy="0"/>
        </a:xfrm>
      </p:grpSpPr>
      <p:sp>
        <p:nvSpPr>
          <p:cNvPr id="84" name="Google Shape;84;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9"/>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1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showMasterSp="0" type="vertTitleAndTx">
  <p:cSld name="VERTICAL_TITLE_AND_VERTICAL_TEXT">
    <p:spTree>
      <p:nvGrpSpPr>
        <p:cNvPr id="89" name="Shape 89"/>
        <p:cNvGrpSpPr/>
        <p:nvPr/>
      </p:nvGrpSpPr>
      <p:grpSpPr>
        <a:xfrm>
          <a:off x="0" y="0"/>
          <a:ext cx="0" cy="0"/>
          <a:chOff x="0" y="0"/>
          <a:chExt cx="0" cy="0"/>
        </a:xfrm>
      </p:grpSpPr>
      <p:sp>
        <p:nvSpPr>
          <p:cNvPr id="90" name="Google Shape;90;p20"/>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0"/>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0"/>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0"/>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2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9"/>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 name="Google Shape;11;p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cxnSp>
        <p:nvCxnSpPr>
          <p:cNvPr id="13" name="Google Shape;13;p9"/>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4400"/>
              <a:buFont typeface="Calibri"/>
              <a:buNone/>
            </a:pPr>
            <a:r>
              <a:rPr lang="ko-KR" sz="4400"/>
              <a:t>Love Crown</a:t>
            </a:r>
            <a:endParaRPr/>
          </a:p>
        </p:txBody>
      </p:sp>
      <p:sp>
        <p:nvSpPr>
          <p:cNvPr id="102" name="Google Shape;102;p1"/>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SzPct val="100000"/>
              <a:buNone/>
            </a:pPr>
            <a:r>
              <a:t/>
            </a:r>
            <a:endParaRPr>
              <a:solidFill>
                <a:srgbClr val="F2F2F2"/>
              </a:solidFill>
            </a:endParaRPr>
          </a:p>
          <a:p>
            <a:pPr indent="0" lvl="0" marL="0" rtl="0" algn="l">
              <a:lnSpc>
                <a:spcPct val="90000"/>
              </a:lnSpc>
              <a:spcBef>
                <a:spcPts val="1400"/>
              </a:spcBef>
              <a:spcAft>
                <a:spcPts val="0"/>
              </a:spcAft>
              <a:buSzPct val="100000"/>
              <a:buNone/>
            </a:pPr>
            <a:r>
              <a:rPr lang="ko-KR">
                <a:solidFill>
                  <a:srgbClr val="3F739B"/>
                </a:solidFill>
              </a:rPr>
              <a:t>팀 이름 </a:t>
            </a:r>
            <a:endParaRPr>
              <a:solidFill>
                <a:srgbClr val="3F739B"/>
              </a:solidFill>
            </a:endParaRPr>
          </a:p>
          <a:p>
            <a:pPr indent="0" lvl="0" marL="0" rtl="0" algn="l">
              <a:lnSpc>
                <a:spcPct val="90000"/>
              </a:lnSpc>
              <a:spcBef>
                <a:spcPts val="1400"/>
              </a:spcBef>
              <a:spcAft>
                <a:spcPts val="0"/>
              </a:spcAft>
              <a:buSzPct val="100000"/>
              <a:buNone/>
            </a:pPr>
            <a:r>
              <a:rPr lang="ko-KR">
                <a:solidFill>
                  <a:srgbClr val="3F739B"/>
                </a:solidFill>
              </a:rPr>
              <a:t>팀원 박치현, 한재원, 최지수, 이성학, 안승현, 정윤호, 김명오</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ko-KR"/>
              <a:t>게임 기본 정보 요약</a:t>
            </a:r>
            <a:endParaRPr/>
          </a:p>
        </p:txBody>
      </p:sp>
      <p:sp>
        <p:nvSpPr>
          <p:cNvPr id="108" name="Google Shape;108;p2"/>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None/>
            </a:pPr>
            <a:r>
              <a:rPr lang="ko-KR"/>
              <a:t>장르: 1vs1 연애 시뮬레이션 전략 게임</a:t>
            </a:r>
            <a:endParaRPr/>
          </a:p>
          <a:p>
            <a:pPr indent="0" lvl="0" marL="0" rtl="0" algn="l">
              <a:lnSpc>
                <a:spcPct val="90000"/>
              </a:lnSpc>
              <a:spcBef>
                <a:spcPts val="0"/>
              </a:spcBef>
              <a:spcAft>
                <a:spcPts val="0"/>
              </a:spcAft>
              <a:buNone/>
            </a:pPr>
            <a:r>
              <a:rPr lang="ko-KR"/>
              <a:t>플랫폼: PC</a:t>
            </a:r>
            <a:endParaRPr/>
          </a:p>
          <a:p>
            <a:pPr indent="0" lvl="0" marL="0" rtl="0" algn="l">
              <a:lnSpc>
                <a:spcPct val="90000"/>
              </a:lnSpc>
              <a:spcBef>
                <a:spcPts val="0"/>
              </a:spcBef>
              <a:spcAft>
                <a:spcPts val="0"/>
              </a:spcAft>
              <a:buNone/>
            </a:pPr>
            <a:r>
              <a:rPr lang="ko-KR"/>
              <a:t>타겟 플레이어: </a:t>
            </a:r>
            <a:r>
              <a:rPr lang="ko-KR" sz="1300">
                <a:solidFill>
                  <a:schemeClr val="dk1"/>
                </a:solidFill>
                <a:latin typeface="Arial"/>
                <a:ea typeface="Arial"/>
                <a:cs typeface="Arial"/>
                <a:sym typeface="Arial"/>
              </a:rPr>
              <a:t> </a:t>
            </a:r>
            <a:r>
              <a:rPr lang="ko-KR">
                <a:solidFill>
                  <a:srgbClr val="262626"/>
                </a:solidFill>
              </a:rPr>
              <a:t>10대 후반 ~ 20대 초반, 캐주얼 게임/연애 시뮬레이션/코믹 경쟁 요소 </a:t>
            </a:r>
            <a:r>
              <a:rPr lang="ko-KR">
                <a:solidFill>
                  <a:srgbClr val="262626"/>
                </a:solidFill>
              </a:rPr>
              <a:t>선호 </a:t>
            </a:r>
            <a:r>
              <a:rPr lang="ko-KR">
                <a:solidFill>
                  <a:srgbClr val="262626"/>
                </a:solidFill>
              </a:rPr>
              <a:t>유저</a:t>
            </a:r>
            <a:endParaRPr>
              <a:solidFill>
                <a:srgbClr val="262626"/>
              </a:solidFill>
            </a:endParaRPr>
          </a:p>
          <a:p>
            <a:pPr indent="-91440" lvl="0" marL="91440" rtl="0" algn="l">
              <a:lnSpc>
                <a:spcPct val="90000"/>
              </a:lnSpc>
              <a:spcBef>
                <a:spcPts val="0"/>
              </a:spcBef>
              <a:spcAft>
                <a:spcPts val="0"/>
              </a:spcAft>
              <a:buSzPts val="1800"/>
              <a:buChar char=" "/>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ko-KR"/>
              <a:t>게임의 목표</a:t>
            </a:r>
            <a:endParaRPr/>
          </a:p>
        </p:txBody>
      </p:sp>
      <p:sp>
        <p:nvSpPr>
          <p:cNvPr id="114" name="Google Shape;114;p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115000"/>
              </a:lnSpc>
              <a:spcBef>
                <a:spcPts val="0"/>
              </a:spcBef>
              <a:spcAft>
                <a:spcPts val="0"/>
              </a:spcAft>
              <a:buSzPts val="1800"/>
              <a:buNone/>
            </a:pPr>
            <a:r>
              <a:rPr lang="ko-KR" sz="1800">
                <a:solidFill>
                  <a:schemeClr val="dk1"/>
                </a:solidFill>
                <a:latin typeface="Arial"/>
                <a:ea typeface="Arial"/>
                <a:cs typeface="Arial"/>
                <a:sym typeface="Arial"/>
              </a:rPr>
              <a:t>두 유저가 동시에 같은 학교 맵에서 시작하여 여러가지 이벤트 요소 등을 통해 남학생 NPC들에게 </a:t>
            </a:r>
            <a:endParaRPr sz="1800">
              <a:solidFill>
                <a:schemeClr val="dk1"/>
              </a:solidFill>
              <a:latin typeface="Arial"/>
              <a:ea typeface="Arial"/>
              <a:cs typeface="Arial"/>
              <a:sym typeface="Arial"/>
            </a:endParaRPr>
          </a:p>
          <a:p>
            <a:pPr indent="0" lvl="0" marL="0" rtl="0" algn="l">
              <a:lnSpc>
                <a:spcPct val="115000"/>
              </a:lnSpc>
              <a:spcBef>
                <a:spcPts val="0"/>
              </a:spcBef>
              <a:spcAft>
                <a:spcPts val="0"/>
              </a:spcAft>
              <a:buSzPts val="1800"/>
              <a:buNone/>
            </a:pPr>
            <a:r>
              <a:rPr lang="ko-KR" sz="1800">
                <a:solidFill>
                  <a:schemeClr val="dk1"/>
                </a:solidFill>
                <a:latin typeface="Arial"/>
                <a:ea typeface="Arial"/>
                <a:cs typeface="Arial"/>
                <a:sym typeface="Arial"/>
              </a:rPr>
              <a:t>호감도를 얻어서</a:t>
            </a:r>
            <a:r>
              <a:rPr lang="ko-KR" sz="1800"/>
              <a:t> </a:t>
            </a:r>
            <a:r>
              <a:rPr lang="ko-KR" sz="1800">
                <a:solidFill>
                  <a:schemeClr val="dk1"/>
                </a:solidFill>
                <a:latin typeface="Arial"/>
                <a:ea typeface="Arial"/>
                <a:cs typeface="Arial"/>
                <a:sym typeface="Arial"/>
              </a:rPr>
              <a:t>제한 시간 종료 시 상대보다 더 많은 NPC(또는 총 호감도 점수)를 확보한 플레이어가 승리</a:t>
            </a:r>
            <a:endParaRPr sz="1800">
              <a:solidFill>
                <a:schemeClr val="dk1"/>
              </a:solidFill>
              <a:latin typeface="Arial"/>
              <a:ea typeface="Arial"/>
              <a:cs typeface="Arial"/>
              <a:sym typeface="Arial"/>
            </a:endParaRPr>
          </a:p>
          <a:p>
            <a:pPr indent="-91440" lvl="0" marL="91440" rtl="0" algn="l">
              <a:lnSpc>
                <a:spcPct val="90000"/>
              </a:lnSpc>
              <a:spcBef>
                <a:spcPts val="0"/>
              </a:spcBef>
              <a:spcAft>
                <a:spcPts val="0"/>
              </a:spcAft>
              <a:buSzPts val="1800"/>
              <a:buChar char=" "/>
            </a:pPr>
            <a:r>
              <a:t/>
            </a:r>
            <a:endParaRPr sz="1800"/>
          </a:p>
          <a:p>
            <a:pPr indent="0" lvl="0" marL="0" rtl="0" algn="l">
              <a:lnSpc>
                <a:spcPct val="90000"/>
              </a:lnSpc>
              <a:spcBef>
                <a:spcPts val="1400"/>
              </a:spcBef>
              <a:spcAft>
                <a:spcPts val="0"/>
              </a:spcAft>
              <a:buSzPts val="2000"/>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ko-KR"/>
              <a:t>유사 게임 리서치 2~3개</a:t>
            </a:r>
            <a:endParaRPr/>
          </a:p>
        </p:txBody>
      </p:sp>
      <p:sp>
        <p:nvSpPr>
          <p:cNvPr id="120" name="Google Shape;120;p4"/>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1400"/>
              </a:spcBef>
              <a:spcAft>
                <a:spcPts val="0"/>
              </a:spcAft>
              <a:buSzPts val="2000"/>
              <a:buChar char=" "/>
            </a:pPr>
            <a:r>
              <a:t/>
            </a:r>
            <a:endParaRPr/>
          </a:p>
          <a:p>
            <a:pPr indent="-91440" lvl="0" marL="91440" rtl="0" algn="l">
              <a:lnSpc>
                <a:spcPct val="90000"/>
              </a:lnSpc>
              <a:spcBef>
                <a:spcPts val="1400"/>
              </a:spcBef>
              <a:spcAft>
                <a:spcPts val="0"/>
              </a:spcAft>
              <a:buSzPts val="2000"/>
              <a:buChar char=" "/>
            </a:pPr>
            <a:r>
              <a:t/>
            </a:r>
            <a:endParaRPr/>
          </a:p>
        </p:txBody>
      </p:sp>
      <p:pic>
        <p:nvPicPr>
          <p:cNvPr id="121" name="Google Shape;121;p4"/>
          <p:cNvPicPr preferRelativeResize="0"/>
          <p:nvPr/>
        </p:nvPicPr>
        <p:blipFill rotWithShape="1">
          <a:blip r:embed="rId3">
            <a:alphaModFix/>
          </a:blip>
          <a:srcRect b="0" l="0" r="0" t="0"/>
          <a:stretch/>
        </p:blipFill>
        <p:spPr>
          <a:xfrm>
            <a:off x="453625" y="2509750"/>
            <a:ext cx="5133800" cy="2695250"/>
          </a:xfrm>
          <a:prstGeom prst="rect">
            <a:avLst/>
          </a:prstGeom>
          <a:noFill/>
          <a:ln>
            <a:noFill/>
          </a:ln>
        </p:spPr>
      </p:pic>
      <p:pic>
        <p:nvPicPr>
          <p:cNvPr id="122" name="Google Shape;122;p4"/>
          <p:cNvPicPr preferRelativeResize="0"/>
          <p:nvPr/>
        </p:nvPicPr>
        <p:blipFill rotWithShape="1">
          <a:blip r:embed="rId4">
            <a:alphaModFix/>
          </a:blip>
          <a:srcRect b="0" l="0" r="0" t="0"/>
          <a:stretch/>
        </p:blipFill>
        <p:spPr>
          <a:xfrm>
            <a:off x="6604575" y="2509744"/>
            <a:ext cx="5133800" cy="2695250"/>
          </a:xfrm>
          <a:prstGeom prst="rect">
            <a:avLst/>
          </a:prstGeom>
          <a:noFill/>
          <a:ln>
            <a:noFill/>
          </a:ln>
        </p:spPr>
      </p:pic>
      <p:sp>
        <p:nvSpPr>
          <p:cNvPr id="123" name="Google Shape;123;p4"/>
          <p:cNvSpPr txBox="1"/>
          <p:nvPr/>
        </p:nvSpPr>
        <p:spPr>
          <a:xfrm>
            <a:off x="453625" y="5205000"/>
            <a:ext cx="1429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2000">
                <a:solidFill>
                  <a:srgbClr val="3F3F3F"/>
                </a:solidFill>
                <a:latin typeface="Calibri"/>
                <a:ea typeface="Calibri"/>
                <a:cs typeface="Calibri"/>
                <a:sym typeface="Calibri"/>
              </a:rPr>
              <a:t>눈빛보내기</a:t>
            </a:r>
            <a:endParaRPr sz="2000">
              <a:solidFill>
                <a:srgbClr val="3F3F3F"/>
              </a:solidFill>
              <a:latin typeface="Calibri"/>
              <a:ea typeface="Calibri"/>
              <a:cs typeface="Calibri"/>
              <a:sym typeface="Calibri"/>
            </a:endParaRPr>
          </a:p>
        </p:txBody>
      </p:sp>
      <p:sp>
        <p:nvSpPr>
          <p:cNvPr id="124" name="Google Shape;124;p4"/>
          <p:cNvSpPr txBox="1"/>
          <p:nvPr/>
        </p:nvSpPr>
        <p:spPr>
          <a:xfrm>
            <a:off x="6604575" y="5205000"/>
            <a:ext cx="1429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2000">
                <a:solidFill>
                  <a:srgbClr val="3F3F3F"/>
                </a:solidFill>
                <a:latin typeface="Calibri"/>
                <a:ea typeface="Calibri"/>
                <a:cs typeface="Calibri"/>
                <a:sym typeface="Calibri"/>
              </a:rPr>
              <a:t>몬스터 프롬</a:t>
            </a:r>
            <a:endParaRPr sz="2000">
              <a:solidFill>
                <a:srgbClr val="3F3F3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ko-KR"/>
              <a:t>유사 게임과의 차별성</a:t>
            </a:r>
            <a:endParaRPr/>
          </a:p>
        </p:txBody>
      </p:sp>
      <p:sp>
        <p:nvSpPr>
          <p:cNvPr id="130" name="Google Shape;130;p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115000"/>
              </a:lnSpc>
              <a:spcBef>
                <a:spcPts val="0"/>
              </a:spcBef>
              <a:spcAft>
                <a:spcPts val="0"/>
              </a:spcAft>
              <a:buSzPts val="1800"/>
              <a:buNone/>
            </a:pPr>
            <a:r>
              <a:t/>
            </a:r>
            <a:endParaRPr sz="1300">
              <a:solidFill>
                <a:schemeClr val="dk1"/>
              </a:solidFill>
              <a:latin typeface="Arial"/>
              <a:ea typeface="Arial"/>
              <a:cs typeface="Arial"/>
              <a:sym typeface="Arial"/>
            </a:endParaRPr>
          </a:p>
          <a:p>
            <a:pPr indent="-330200" lvl="0" marL="457200" rtl="0" algn="l">
              <a:lnSpc>
                <a:spcPct val="115000"/>
              </a:lnSpc>
              <a:spcBef>
                <a:spcPts val="0"/>
              </a:spcBef>
              <a:spcAft>
                <a:spcPts val="0"/>
              </a:spcAft>
              <a:buClr>
                <a:schemeClr val="dk1"/>
              </a:buClr>
              <a:buSzPts val="1600"/>
              <a:buFont typeface="Arial"/>
              <a:buChar char="-"/>
            </a:pPr>
            <a:r>
              <a:rPr lang="ko-KR" sz="1600">
                <a:solidFill>
                  <a:schemeClr val="dk1"/>
                </a:solidFill>
                <a:latin typeface="Arial"/>
                <a:ea typeface="Arial"/>
                <a:cs typeface="Arial"/>
                <a:sym typeface="Arial"/>
              </a:rPr>
              <a:t>기존 연애 시뮬레이션은 대부분 </a:t>
            </a:r>
            <a:r>
              <a:rPr b="1" lang="ko-KR" sz="1600">
                <a:solidFill>
                  <a:schemeClr val="dk1"/>
                </a:solidFill>
                <a:latin typeface="Arial"/>
                <a:ea typeface="Arial"/>
                <a:cs typeface="Arial"/>
                <a:sym typeface="Arial"/>
              </a:rPr>
              <a:t>싱글플레이 + 스토리 위주</a:t>
            </a:r>
            <a:r>
              <a:rPr lang="ko-KR" sz="1600">
                <a:solidFill>
                  <a:schemeClr val="dk1"/>
                </a:solidFill>
                <a:latin typeface="Arial"/>
                <a:ea typeface="Arial"/>
                <a:cs typeface="Arial"/>
                <a:sym typeface="Arial"/>
              </a:rPr>
              <a:t>였으나,</a:t>
            </a:r>
            <a:endParaRPr sz="1600">
              <a:solidFill>
                <a:schemeClr val="dk1"/>
              </a:solidFill>
              <a:latin typeface="Arial"/>
              <a:ea typeface="Arial"/>
              <a:cs typeface="Arial"/>
              <a:sym typeface="Arial"/>
            </a:endParaRPr>
          </a:p>
          <a:p>
            <a:pPr indent="0" lvl="0" marL="457200" rtl="0" algn="l">
              <a:lnSpc>
                <a:spcPct val="115000"/>
              </a:lnSpc>
              <a:spcBef>
                <a:spcPts val="0"/>
              </a:spcBef>
              <a:spcAft>
                <a:spcPts val="0"/>
              </a:spcAft>
              <a:buSzPts val="1800"/>
              <a:buNone/>
            </a:pPr>
            <a:r>
              <a:rPr lang="ko-KR" sz="1600">
                <a:solidFill>
                  <a:schemeClr val="dk1"/>
                </a:solidFill>
                <a:latin typeface="Arial"/>
                <a:ea typeface="Arial"/>
                <a:cs typeface="Arial"/>
                <a:sym typeface="Arial"/>
              </a:rPr>
              <a:t>본 게임은 </a:t>
            </a:r>
            <a:r>
              <a:rPr b="1" lang="ko-KR" sz="1600">
                <a:solidFill>
                  <a:schemeClr val="dk1"/>
                </a:solidFill>
                <a:latin typeface="Arial"/>
                <a:ea typeface="Arial"/>
                <a:cs typeface="Arial"/>
                <a:sym typeface="Arial"/>
              </a:rPr>
              <a:t>멀티 경쟁 + 심리전</a:t>
            </a:r>
            <a:r>
              <a:rPr lang="ko-KR" sz="1600">
                <a:solidFill>
                  <a:schemeClr val="dk1"/>
                </a:solidFill>
                <a:latin typeface="Arial"/>
                <a:ea typeface="Arial"/>
                <a:cs typeface="Arial"/>
                <a:sym typeface="Arial"/>
              </a:rPr>
              <a:t>을 전면에 내세움.</a:t>
            </a:r>
            <a:endParaRPr sz="1600">
              <a:solidFill>
                <a:schemeClr val="dk1"/>
              </a:solidFill>
              <a:latin typeface="Arial"/>
              <a:ea typeface="Arial"/>
              <a:cs typeface="Arial"/>
              <a:sym typeface="Arial"/>
            </a:endParaRPr>
          </a:p>
          <a:p>
            <a:pPr indent="-330200" lvl="0" marL="457200" rtl="0" algn="l">
              <a:lnSpc>
                <a:spcPct val="115000"/>
              </a:lnSpc>
              <a:spcBef>
                <a:spcPts val="1200"/>
              </a:spcBef>
              <a:spcAft>
                <a:spcPts val="0"/>
              </a:spcAft>
              <a:buClr>
                <a:schemeClr val="dk1"/>
              </a:buClr>
              <a:buSzPts val="1600"/>
              <a:buFont typeface="Arial"/>
              <a:buChar char="-"/>
            </a:pPr>
            <a:r>
              <a:rPr lang="ko-KR" sz="1600">
                <a:solidFill>
                  <a:schemeClr val="dk1"/>
                </a:solidFill>
                <a:latin typeface="Arial"/>
                <a:ea typeface="Arial"/>
                <a:cs typeface="Arial"/>
                <a:sym typeface="Arial"/>
              </a:rPr>
              <a:t>비교적 잔잔한 분위기로 일정한 속도로 진행되는 연애 시뮬레이션에 반해 익숙하지 않은 연애 시뮬레이션과 심리전을 통한 경쟁의 조합으로 빠르게 진행되는 템포 속에서 </a:t>
            </a:r>
            <a:r>
              <a:rPr b="1" lang="ko-KR" sz="1600">
                <a:solidFill>
                  <a:schemeClr val="dk1"/>
                </a:solidFill>
                <a:latin typeface="Arial"/>
                <a:ea typeface="Arial"/>
                <a:cs typeface="Arial"/>
                <a:sym typeface="Arial"/>
              </a:rPr>
              <a:t>신선함</a:t>
            </a:r>
            <a:r>
              <a:rPr lang="ko-KR" sz="1600">
                <a:solidFill>
                  <a:schemeClr val="dk1"/>
                </a:solidFill>
                <a:latin typeface="Arial"/>
                <a:ea typeface="Arial"/>
                <a:cs typeface="Arial"/>
                <a:sym typeface="Arial"/>
              </a:rPr>
              <a:t>과 </a:t>
            </a:r>
            <a:r>
              <a:rPr b="1" lang="ko-KR" sz="1600">
                <a:solidFill>
                  <a:schemeClr val="dk1"/>
                </a:solidFill>
                <a:latin typeface="Arial"/>
                <a:ea typeface="Arial"/>
                <a:cs typeface="Arial"/>
                <a:sym typeface="Arial"/>
              </a:rPr>
              <a:t>속도감</a:t>
            </a:r>
            <a:r>
              <a:rPr lang="ko-KR" sz="1600">
                <a:solidFill>
                  <a:schemeClr val="dk1"/>
                </a:solidFill>
                <a:latin typeface="Arial"/>
                <a:ea typeface="Arial"/>
                <a:cs typeface="Arial"/>
                <a:sym typeface="Arial"/>
              </a:rPr>
              <a:t>을 느낄 수 있음.</a:t>
            </a:r>
            <a:endParaRPr sz="1600">
              <a:solidFill>
                <a:schemeClr val="dk1"/>
              </a:solidFill>
              <a:latin typeface="Arial"/>
              <a:ea typeface="Arial"/>
              <a:cs typeface="Arial"/>
              <a:sym typeface="Arial"/>
            </a:endParaRPr>
          </a:p>
          <a:p>
            <a:pPr indent="0" lvl="0" marL="457200" rtl="0" algn="l">
              <a:lnSpc>
                <a:spcPct val="90000"/>
              </a:lnSpc>
              <a:spcBef>
                <a:spcPts val="1400"/>
              </a:spcBef>
              <a:spcAft>
                <a:spcPts val="0"/>
              </a:spcAft>
              <a:buSzPts val="1800"/>
              <a:buNone/>
            </a:pPr>
            <a:r>
              <a:t/>
            </a:r>
            <a:endParaRPr sz="1600">
              <a:solidFill>
                <a:schemeClr val="dk1"/>
              </a:solidFill>
              <a:latin typeface="Arial"/>
              <a:ea typeface="Arial"/>
              <a:cs typeface="Arial"/>
              <a:sym typeface="Arial"/>
            </a:endParaRPr>
          </a:p>
          <a:p>
            <a:pPr indent="0" lvl="0" marL="457200" rtl="0" algn="l">
              <a:lnSpc>
                <a:spcPct val="115000"/>
              </a:lnSpc>
              <a:spcBef>
                <a:spcPts val="0"/>
              </a:spcBef>
              <a:spcAft>
                <a:spcPts val="0"/>
              </a:spcAft>
              <a:buSzPts val="1800"/>
              <a:buNone/>
            </a:pPr>
            <a:r>
              <a:t/>
            </a:r>
            <a:endParaRPr sz="1600">
              <a:solidFill>
                <a:schemeClr val="dk1"/>
              </a:solidFill>
              <a:latin typeface="Arial"/>
              <a:ea typeface="Arial"/>
              <a:cs typeface="Arial"/>
              <a:sym typeface="Arial"/>
            </a:endParaRPr>
          </a:p>
          <a:p>
            <a:pPr indent="0" lvl="0" marL="0" rtl="0" algn="l">
              <a:lnSpc>
                <a:spcPct val="115000"/>
              </a:lnSpc>
              <a:spcBef>
                <a:spcPts val="0"/>
              </a:spcBef>
              <a:spcAft>
                <a:spcPts val="0"/>
              </a:spcAft>
              <a:buSzPts val="1800"/>
              <a:buNone/>
            </a:pPr>
            <a:r>
              <a:rPr lang="ko-KR"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a:p>
            <a:pPr indent="0" lvl="0" marL="457200" rtl="0" algn="l">
              <a:lnSpc>
                <a:spcPct val="115000"/>
              </a:lnSpc>
              <a:spcBef>
                <a:spcPts val="0"/>
              </a:spcBef>
              <a:spcAft>
                <a:spcPts val="0"/>
              </a:spcAft>
              <a:buSzPts val="1800"/>
              <a:buNone/>
            </a:pPr>
            <a:r>
              <a:t/>
            </a:r>
            <a:endParaRPr sz="1600">
              <a:solidFill>
                <a:schemeClr val="dk1"/>
              </a:solidFill>
              <a:latin typeface="Arial"/>
              <a:ea typeface="Arial"/>
              <a:cs typeface="Arial"/>
              <a:sym typeface="Arial"/>
            </a:endParaRPr>
          </a:p>
          <a:p>
            <a:pPr indent="0" lvl="0" marL="0" rtl="0" algn="l">
              <a:lnSpc>
                <a:spcPct val="115000"/>
              </a:lnSpc>
              <a:spcBef>
                <a:spcPts val="1200"/>
              </a:spcBef>
              <a:spcAft>
                <a:spcPts val="0"/>
              </a:spcAft>
              <a:buSzPts val="1800"/>
              <a:buNone/>
            </a:pPr>
            <a:br>
              <a:rPr lang="ko-KR" sz="1600">
                <a:solidFill>
                  <a:schemeClr val="dk1"/>
                </a:solidFill>
                <a:latin typeface="Arial"/>
                <a:ea typeface="Arial"/>
                <a:cs typeface="Arial"/>
                <a:sym typeface="Arial"/>
              </a:rPr>
            </a:br>
            <a:endParaRPr sz="1600">
              <a:solidFill>
                <a:schemeClr val="dk1"/>
              </a:solidFill>
              <a:latin typeface="Arial"/>
              <a:ea typeface="Arial"/>
              <a:cs typeface="Arial"/>
              <a:sym typeface="Arial"/>
            </a:endParaRPr>
          </a:p>
          <a:p>
            <a:pPr indent="-91440" lvl="0" marL="91440" rtl="0" algn="l">
              <a:lnSpc>
                <a:spcPct val="90000"/>
              </a:lnSpc>
              <a:spcBef>
                <a:spcPts val="1200"/>
              </a:spcBef>
              <a:spcAft>
                <a:spcPts val="0"/>
              </a:spcAft>
              <a:buSzPts val="2000"/>
              <a:buChar char=" "/>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ko-KR"/>
              <a:t>핵심 게임 플레이</a:t>
            </a:r>
            <a:endParaRPr/>
          </a:p>
        </p:txBody>
      </p:sp>
      <p:sp>
        <p:nvSpPr>
          <p:cNvPr id="136" name="Google Shape;136;p6"/>
          <p:cNvSpPr txBox="1"/>
          <p:nvPr>
            <p:ph idx="1" type="body"/>
          </p:nvPr>
        </p:nvSpPr>
        <p:spPr>
          <a:xfrm>
            <a:off x="1097280" y="1825034"/>
            <a:ext cx="10058400" cy="402330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1400"/>
              </a:spcBef>
              <a:spcAft>
                <a:spcPts val="0"/>
              </a:spcAft>
              <a:buSzPts val="2200"/>
              <a:buChar char=" "/>
            </a:pPr>
            <a:r>
              <a:t/>
            </a:r>
            <a:endParaRPr sz="2200"/>
          </a:p>
          <a:p>
            <a:pPr indent="-91440" lvl="0" marL="91440" rtl="0" algn="l">
              <a:lnSpc>
                <a:spcPct val="115000"/>
              </a:lnSpc>
              <a:spcBef>
                <a:spcPts val="0"/>
              </a:spcBef>
              <a:spcAft>
                <a:spcPts val="0"/>
              </a:spcAft>
              <a:buClr>
                <a:schemeClr val="dk1"/>
              </a:buClr>
              <a:buSzPts val="1800"/>
              <a:buFont typeface="Arial"/>
              <a:buChar char=" "/>
            </a:pPr>
            <a:r>
              <a:rPr lang="ko-KR" sz="1800">
                <a:solidFill>
                  <a:schemeClr val="dk1"/>
                </a:solidFill>
                <a:latin typeface="Arial"/>
                <a:ea typeface="Arial"/>
                <a:cs typeface="Arial"/>
                <a:sym typeface="Arial"/>
              </a:rPr>
              <a:t>경기 시작 → 맵에 남학생들 랜덤 배치</a:t>
            </a:r>
            <a:endParaRPr sz="1800">
              <a:solidFill>
                <a:schemeClr val="dk1"/>
              </a:solidFill>
              <a:latin typeface="Arial"/>
              <a:ea typeface="Arial"/>
              <a:cs typeface="Arial"/>
              <a:sym typeface="Arial"/>
            </a:endParaRPr>
          </a:p>
          <a:p>
            <a:pPr indent="-91440" lvl="0" marL="91440" rtl="0" algn="l">
              <a:lnSpc>
                <a:spcPct val="115000"/>
              </a:lnSpc>
              <a:spcBef>
                <a:spcPts val="0"/>
              </a:spcBef>
              <a:spcAft>
                <a:spcPts val="0"/>
              </a:spcAft>
              <a:buClr>
                <a:schemeClr val="dk1"/>
              </a:buClr>
              <a:buSzPts val="1800"/>
              <a:buFont typeface="Arial"/>
              <a:buChar char=" "/>
            </a:pPr>
            <a:r>
              <a:rPr lang="ko-KR" sz="1800">
                <a:solidFill>
                  <a:schemeClr val="dk1"/>
                </a:solidFill>
                <a:latin typeface="Arial"/>
                <a:ea typeface="Arial"/>
                <a:cs typeface="Arial"/>
                <a:sym typeface="Arial"/>
              </a:rPr>
              <a:t>플레이어 A: 도서관의 모범생 공략 / 플레이어 B: 운동장의 운동부 공략</a:t>
            </a:r>
            <a:endParaRPr sz="1800">
              <a:solidFill>
                <a:schemeClr val="dk1"/>
              </a:solidFill>
              <a:latin typeface="Arial"/>
              <a:ea typeface="Arial"/>
              <a:cs typeface="Arial"/>
              <a:sym typeface="Arial"/>
            </a:endParaRPr>
          </a:p>
          <a:p>
            <a:pPr indent="-91440" lvl="0" marL="91440" rtl="0" algn="l">
              <a:lnSpc>
                <a:spcPct val="115000"/>
              </a:lnSpc>
              <a:spcBef>
                <a:spcPts val="0"/>
              </a:spcBef>
              <a:spcAft>
                <a:spcPts val="0"/>
              </a:spcAft>
              <a:buClr>
                <a:schemeClr val="dk1"/>
              </a:buClr>
              <a:buSzPts val="1800"/>
              <a:buFont typeface="Arial"/>
              <a:buChar char=" "/>
            </a:pPr>
            <a:r>
              <a:rPr lang="ko-KR" sz="1800">
                <a:solidFill>
                  <a:schemeClr val="dk1"/>
                </a:solidFill>
                <a:latin typeface="Arial"/>
                <a:ea typeface="Arial"/>
                <a:cs typeface="Arial"/>
                <a:sym typeface="Arial"/>
              </a:rPr>
              <a:t>A가 공략 완료 직전, B가 “방해 이벤트” 발동 </a:t>
            </a:r>
            <a:endParaRPr sz="1800">
              <a:solidFill>
                <a:schemeClr val="dk1"/>
              </a:solidFill>
              <a:latin typeface="Arial"/>
              <a:ea typeface="Arial"/>
              <a:cs typeface="Arial"/>
              <a:sym typeface="Arial"/>
            </a:endParaRPr>
          </a:p>
          <a:p>
            <a:pPr indent="-91440" lvl="0" marL="91440" rtl="0" algn="l">
              <a:lnSpc>
                <a:spcPct val="115000"/>
              </a:lnSpc>
              <a:spcBef>
                <a:spcPts val="0"/>
              </a:spcBef>
              <a:spcAft>
                <a:spcPts val="0"/>
              </a:spcAft>
              <a:buClr>
                <a:schemeClr val="dk1"/>
              </a:buClr>
              <a:buSzPts val="1800"/>
              <a:buFont typeface="Arial"/>
              <a:buChar char=" "/>
            </a:pPr>
            <a:r>
              <a:rPr lang="ko-KR" sz="1800">
                <a:solidFill>
                  <a:schemeClr val="dk1"/>
                </a:solidFill>
                <a:latin typeface="Arial"/>
                <a:ea typeface="Arial"/>
                <a:cs typeface="Arial"/>
                <a:sym typeface="Arial"/>
              </a:rPr>
              <a:t>제한 시간 종료 → A는 3명, B는 4명 확보 → B 승리</a:t>
            </a:r>
            <a:endParaRPr sz="1800">
              <a:solidFill>
                <a:schemeClr val="dk1"/>
              </a:solidFill>
              <a:latin typeface="Arial"/>
              <a:ea typeface="Arial"/>
              <a:cs typeface="Arial"/>
              <a:sym typeface="Arial"/>
            </a:endParaRPr>
          </a:p>
          <a:p>
            <a:pPr indent="-91440" lvl="0" marL="91440" rtl="0" algn="l">
              <a:lnSpc>
                <a:spcPct val="90000"/>
              </a:lnSpc>
              <a:spcBef>
                <a:spcPts val="1400"/>
              </a:spcBef>
              <a:spcAft>
                <a:spcPts val="0"/>
              </a:spcAft>
              <a:buSzPts val="1800"/>
              <a:buChar char=" "/>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ko-KR"/>
              <a:t>게임의 재미 요소</a:t>
            </a:r>
            <a:endParaRPr/>
          </a:p>
        </p:txBody>
      </p:sp>
      <p:sp>
        <p:nvSpPr>
          <p:cNvPr id="142" name="Google Shape;142;p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1400"/>
              </a:spcBef>
              <a:spcAft>
                <a:spcPts val="0"/>
              </a:spcAft>
              <a:buSzPts val="2000"/>
              <a:buChar char=" "/>
            </a:pPr>
            <a:r>
              <a:t/>
            </a:r>
            <a:endParaRPr/>
          </a:p>
          <a:p>
            <a:pPr indent="-91440" lvl="0" marL="91440" rtl="0" algn="l">
              <a:lnSpc>
                <a:spcPct val="115000"/>
              </a:lnSpc>
              <a:spcBef>
                <a:spcPts val="0"/>
              </a:spcBef>
              <a:spcAft>
                <a:spcPts val="0"/>
              </a:spcAft>
              <a:buClr>
                <a:schemeClr val="dk1"/>
              </a:buClr>
              <a:buSzPts val="1800"/>
              <a:buFont typeface="Arial"/>
              <a:buChar char=" "/>
            </a:pPr>
            <a:r>
              <a:rPr lang="ko-KR" sz="1800">
                <a:solidFill>
                  <a:schemeClr val="dk1"/>
                </a:solidFill>
                <a:latin typeface="Arial"/>
                <a:ea typeface="Arial"/>
                <a:cs typeface="Arial"/>
                <a:sym typeface="Arial"/>
              </a:rPr>
              <a:t>연애 감정 요소를 가볍고 코믹하게 풀어서 누구나 부담 없이 같이 즐길 수 있고 </a:t>
            </a:r>
            <a:endParaRPr sz="1800">
              <a:solidFill>
                <a:schemeClr val="dk1"/>
              </a:solidFill>
              <a:latin typeface="Arial"/>
              <a:ea typeface="Arial"/>
              <a:cs typeface="Arial"/>
              <a:sym typeface="Arial"/>
            </a:endParaRPr>
          </a:p>
          <a:p>
            <a:pPr indent="-91440" lvl="0" marL="91440" rtl="0" algn="l">
              <a:lnSpc>
                <a:spcPct val="115000"/>
              </a:lnSpc>
              <a:spcBef>
                <a:spcPts val="0"/>
              </a:spcBef>
              <a:spcAft>
                <a:spcPts val="0"/>
              </a:spcAft>
              <a:buClr>
                <a:schemeClr val="dk1"/>
              </a:buClr>
              <a:buSzPts val="1800"/>
              <a:buFont typeface="Arial"/>
              <a:buChar char=" "/>
            </a:pPr>
            <a:r>
              <a:rPr lang="ko-KR" sz="1800">
                <a:solidFill>
                  <a:schemeClr val="dk1"/>
                </a:solidFill>
                <a:latin typeface="Arial"/>
                <a:ea typeface="Arial"/>
                <a:cs typeface="Arial"/>
                <a:sym typeface="Arial"/>
              </a:rPr>
              <a:t>익숙하지 않은 연애 시뮬레이션과 심리전을 통한 경쟁의 조합으로 신선함을 느낄 수 있음.</a:t>
            </a:r>
            <a:endParaRPr sz="1800">
              <a:solidFill>
                <a:schemeClr val="dk1"/>
              </a:solidFill>
              <a:latin typeface="Arial"/>
              <a:ea typeface="Arial"/>
              <a:cs typeface="Arial"/>
              <a:sym typeface="Arial"/>
            </a:endParaRPr>
          </a:p>
          <a:p>
            <a:pPr indent="-91440" lvl="0" marL="91440" rtl="0" algn="l">
              <a:lnSpc>
                <a:spcPct val="90000"/>
              </a:lnSpc>
              <a:spcBef>
                <a:spcPts val="1400"/>
              </a:spcBef>
              <a:spcAft>
                <a:spcPts val="0"/>
              </a:spcAft>
              <a:buSzPts val="1800"/>
              <a:buChar char=" "/>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ko-KR"/>
              <a:t>앞으로의 계획</a:t>
            </a:r>
            <a:endParaRPr/>
          </a:p>
        </p:txBody>
      </p:sp>
      <p:sp>
        <p:nvSpPr>
          <p:cNvPr id="148" name="Google Shape;148;p8"/>
          <p:cNvSpPr txBox="1"/>
          <p:nvPr>
            <p:ph idx="1" type="body"/>
          </p:nvPr>
        </p:nvSpPr>
        <p:spPr>
          <a:xfrm>
            <a:off x="778353" y="1866450"/>
            <a:ext cx="3429900" cy="4023300"/>
          </a:xfrm>
          <a:prstGeom prst="rect">
            <a:avLst/>
          </a:prstGeom>
          <a:noFill/>
          <a:ln>
            <a:noFill/>
          </a:ln>
        </p:spPr>
        <p:txBody>
          <a:bodyPr anchorCtr="0" anchor="t" bIns="45700" lIns="0" spcFirstLastPara="1" rIns="0" wrap="square" tIns="45700">
            <a:normAutofit/>
          </a:bodyPr>
          <a:lstStyle/>
          <a:p>
            <a:pPr indent="-107950" lvl="0" marL="91440" rtl="0" algn="l">
              <a:lnSpc>
                <a:spcPct val="150000"/>
              </a:lnSpc>
              <a:spcBef>
                <a:spcPts val="0"/>
              </a:spcBef>
              <a:spcAft>
                <a:spcPts val="0"/>
              </a:spcAft>
              <a:buSzPts val="1700"/>
              <a:buChar char=" "/>
            </a:pPr>
            <a:r>
              <a:rPr lang="ko-KR" sz="1700"/>
              <a:t>1. 2주 개발 목표                                                 </a:t>
            </a:r>
            <a:endParaRPr sz="1700"/>
          </a:p>
          <a:p>
            <a:pPr indent="-95250" lvl="0" marL="91440" rtl="0" algn="l">
              <a:lnSpc>
                <a:spcPct val="150000"/>
              </a:lnSpc>
              <a:spcBef>
                <a:spcPts val="0"/>
              </a:spcBef>
              <a:spcAft>
                <a:spcPts val="0"/>
              </a:spcAft>
              <a:buSzPts val="1500"/>
              <a:buChar char=" "/>
            </a:pPr>
            <a:r>
              <a:rPr lang="ko-KR" sz="1700"/>
              <a:t>&gt; 최소 플레이 가능한 프로토타입 구현</a:t>
            </a:r>
            <a:endParaRPr sz="1700"/>
          </a:p>
          <a:p>
            <a:pPr indent="-95250" lvl="0" marL="91440" rtl="0" algn="l">
              <a:lnSpc>
                <a:spcPct val="150000"/>
              </a:lnSpc>
              <a:spcBef>
                <a:spcPts val="0"/>
              </a:spcBef>
              <a:spcAft>
                <a:spcPts val="0"/>
              </a:spcAft>
              <a:buSzPts val="1500"/>
              <a:buChar char=" "/>
            </a:pPr>
            <a:r>
              <a:rPr lang="ko-KR" sz="1700"/>
              <a:t> 개발 세부 내용</a:t>
            </a:r>
            <a:endParaRPr sz="1700"/>
          </a:p>
          <a:p>
            <a:pPr indent="-95250" lvl="0" marL="91440" rtl="0" algn="l">
              <a:lnSpc>
                <a:spcPct val="150000"/>
              </a:lnSpc>
              <a:spcBef>
                <a:spcPts val="0"/>
              </a:spcBef>
              <a:spcAft>
                <a:spcPts val="0"/>
              </a:spcAft>
              <a:buSzPts val="1500"/>
              <a:buChar char=" "/>
            </a:pPr>
            <a:r>
              <a:rPr lang="ko-KR" sz="1700"/>
              <a:t>- NPC 3개 제작</a:t>
            </a:r>
            <a:endParaRPr sz="1700"/>
          </a:p>
          <a:p>
            <a:pPr indent="-95250" lvl="0" marL="91440" rtl="0" algn="l">
              <a:lnSpc>
                <a:spcPct val="150000"/>
              </a:lnSpc>
              <a:spcBef>
                <a:spcPts val="0"/>
              </a:spcBef>
              <a:spcAft>
                <a:spcPts val="0"/>
              </a:spcAft>
              <a:buSzPts val="1500"/>
              <a:buChar char=" "/>
            </a:pPr>
            <a:r>
              <a:rPr lang="ko-KR" sz="1700"/>
              <a:t>- 로비 화면 구현</a:t>
            </a:r>
            <a:endParaRPr sz="1700"/>
          </a:p>
          <a:p>
            <a:pPr indent="-95250" lvl="0" marL="91440" rtl="0" algn="l">
              <a:lnSpc>
                <a:spcPct val="150000"/>
              </a:lnSpc>
              <a:spcBef>
                <a:spcPts val="0"/>
              </a:spcBef>
              <a:spcAft>
                <a:spcPts val="0"/>
              </a:spcAft>
              <a:buSzPts val="1500"/>
              <a:buChar char=" "/>
            </a:pPr>
            <a:r>
              <a:rPr lang="ko-KR" sz="1700"/>
              <a:t>- 설정창(소리/키설정) 적용</a:t>
            </a:r>
            <a:endParaRPr sz="1800"/>
          </a:p>
          <a:p>
            <a:pPr indent="-95250" lvl="0" marL="91440" rtl="0" algn="l">
              <a:lnSpc>
                <a:spcPct val="150000"/>
              </a:lnSpc>
              <a:spcBef>
                <a:spcPts val="0"/>
              </a:spcBef>
              <a:spcAft>
                <a:spcPts val="0"/>
              </a:spcAft>
              <a:buSzPts val="1500"/>
              <a:buChar char=" "/>
            </a:pPr>
            <a:r>
              <a:rPr lang="ko-KR" sz="1700"/>
              <a:t>- NPC 상호작용 기본 기능 완성</a:t>
            </a:r>
            <a:endParaRPr sz="1700"/>
          </a:p>
        </p:txBody>
      </p:sp>
      <p:sp>
        <p:nvSpPr>
          <p:cNvPr id="149" name="Google Shape;149;p8"/>
          <p:cNvSpPr txBox="1"/>
          <p:nvPr>
            <p:ph idx="1" type="body"/>
          </p:nvPr>
        </p:nvSpPr>
        <p:spPr>
          <a:xfrm>
            <a:off x="4411528" y="1866450"/>
            <a:ext cx="3429900" cy="4023300"/>
          </a:xfrm>
          <a:prstGeom prst="rect">
            <a:avLst/>
          </a:prstGeom>
          <a:noFill/>
          <a:ln>
            <a:noFill/>
          </a:ln>
        </p:spPr>
        <p:txBody>
          <a:bodyPr anchorCtr="0" anchor="t" bIns="45700" lIns="0" spcFirstLastPara="1" rIns="0" wrap="square" tIns="45700">
            <a:normAutofit/>
          </a:bodyPr>
          <a:lstStyle/>
          <a:p>
            <a:pPr indent="-107950" lvl="0" marL="91440" rtl="0" algn="l">
              <a:lnSpc>
                <a:spcPct val="150000"/>
              </a:lnSpc>
              <a:spcBef>
                <a:spcPts val="0"/>
              </a:spcBef>
              <a:spcAft>
                <a:spcPts val="0"/>
              </a:spcAft>
              <a:buSzPts val="1700"/>
              <a:buChar char=" "/>
            </a:pPr>
            <a:r>
              <a:rPr lang="ko-KR" sz="1700"/>
              <a:t>2. 한 학기 개발 목표                                                 </a:t>
            </a:r>
            <a:endParaRPr sz="1700"/>
          </a:p>
          <a:p>
            <a:pPr indent="-95250" lvl="0" marL="91440" rtl="0" algn="l">
              <a:lnSpc>
                <a:spcPct val="150000"/>
              </a:lnSpc>
              <a:spcBef>
                <a:spcPts val="0"/>
              </a:spcBef>
              <a:spcAft>
                <a:spcPts val="0"/>
              </a:spcAft>
              <a:buSzPts val="1500"/>
              <a:buChar char=" "/>
            </a:pPr>
            <a:r>
              <a:rPr lang="ko-KR" sz="1700"/>
              <a:t>&gt; 핵심 시스템 구현 및 플레이 </a:t>
            </a:r>
            <a:endParaRPr sz="1700"/>
          </a:p>
          <a:p>
            <a:pPr indent="-95250" lvl="0" marL="91440" rtl="0" algn="l">
              <a:lnSpc>
                <a:spcPct val="150000"/>
              </a:lnSpc>
              <a:spcBef>
                <a:spcPts val="0"/>
              </a:spcBef>
              <a:spcAft>
                <a:spcPts val="0"/>
              </a:spcAft>
              <a:buSzPts val="1500"/>
              <a:buChar char=" "/>
            </a:pPr>
            <a:r>
              <a:rPr lang="ko-KR" sz="1700"/>
              <a:t>   가능 버전 확보</a:t>
            </a:r>
            <a:endParaRPr sz="1700"/>
          </a:p>
          <a:p>
            <a:pPr indent="-95250" lvl="0" marL="91440" rtl="0" algn="l">
              <a:lnSpc>
                <a:spcPct val="150000"/>
              </a:lnSpc>
              <a:spcBef>
                <a:spcPts val="0"/>
              </a:spcBef>
              <a:spcAft>
                <a:spcPts val="0"/>
              </a:spcAft>
              <a:buSzPts val="1500"/>
              <a:buChar char=" "/>
            </a:pPr>
            <a:r>
              <a:rPr lang="ko-KR" sz="1700"/>
              <a:t> 개발 세부 내용</a:t>
            </a:r>
            <a:endParaRPr sz="1700"/>
          </a:p>
          <a:p>
            <a:pPr indent="-95250" lvl="0" marL="91440" rtl="0" algn="l">
              <a:lnSpc>
                <a:spcPct val="150000"/>
              </a:lnSpc>
              <a:spcBef>
                <a:spcPts val="0"/>
              </a:spcBef>
              <a:spcAft>
                <a:spcPts val="0"/>
              </a:spcAft>
              <a:buSzPts val="1500"/>
              <a:buChar char=" "/>
            </a:pPr>
            <a:r>
              <a:rPr lang="ko-KR" sz="1700"/>
              <a:t>- 호감도 시스템 완성</a:t>
            </a:r>
            <a:endParaRPr sz="1700"/>
          </a:p>
          <a:p>
            <a:pPr indent="-95250" lvl="0" marL="91440" rtl="0" algn="l">
              <a:lnSpc>
                <a:spcPct val="150000"/>
              </a:lnSpc>
              <a:spcBef>
                <a:spcPts val="0"/>
              </a:spcBef>
              <a:spcAft>
                <a:spcPts val="0"/>
              </a:spcAft>
              <a:buSzPts val="1500"/>
              <a:buChar char=" "/>
            </a:pPr>
            <a:r>
              <a:rPr lang="ko-KR" sz="1700"/>
              <a:t>- 방해 시스템 일부 구현</a:t>
            </a:r>
            <a:endParaRPr sz="1700"/>
          </a:p>
          <a:p>
            <a:pPr indent="-95250" lvl="0" marL="91440" rtl="0" algn="l">
              <a:lnSpc>
                <a:spcPct val="150000"/>
              </a:lnSpc>
              <a:spcBef>
                <a:spcPts val="0"/>
              </a:spcBef>
              <a:spcAft>
                <a:spcPts val="0"/>
              </a:spcAft>
              <a:buSzPts val="1500"/>
              <a:buChar char=" "/>
            </a:pPr>
            <a:r>
              <a:rPr lang="ko-KR" sz="1700"/>
              <a:t>- 기본 UI(로비, 인게임, 결과화면)</a:t>
            </a:r>
            <a:endParaRPr sz="1700"/>
          </a:p>
          <a:p>
            <a:pPr indent="-95250" lvl="0" marL="91440" rtl="0" algn="l">
              <a:lnSpc>
                <a:spcPct val="150000"/>
              </a:lnSpc>
              <a:spcBef>
                <a:spcPts val="0"/>
              </a:spcBef>
              <a:spcAft>
                <a:spcPts val="0"/>
              </a:spcAft>
              <a:buSzPts val="1500"/>
              <a:buChar char=" "/>
            </a:pPr>
            <a:r>
              <a:rPr lang="ko-KR" sz="1700"/>
              <a:t>- 테스트 가능한 프로토타입</a:t>
            </a:r>
            <a:endParaRPr sz="1700"/>
          </a:p>
        </p:txBody>
      </p:sp>
      <p:sp>
        <p:nvSpPr>
          <p:cNvPr id="150" name="Google Shape;150;p8"/>
          <p:cNvSpPr txBox="1"/>
          <p:nvPr>
            <p:ph idx="1" type="body"/>
          </p:nvPr>
        </p:nvSpPr>
        <p:spPr>
          <a:xfrm>
            <a:off x="8044700" y="1925625"/>
            <a:ext cx="3786000" cy="4023300"/>
          </a:xfrm>
          <a:prstGeom prst="rect">
            <a:avLst/>
          </a:prstGeom>
          <a:noFill/>
          <a:ln>
            <a:noFill/>
          </a:ln>
        </p:spPr>
        <p:txBody>
          <a:bodyPr anchorCtr="0" anchor="t" bIns="45700" lIns="0" spcFirstLastPara="1" rIns="0" wrap="square" tIns="45700">
            <a:normAutofit/>
          </a:bodyPr>
          <a:lstStyle/>
          <a:p>
            <a:pPr indent="-107950" lvl="0" marL="91440" rtl="0" algn="l">
              <a:lnSpc>
                <a:spcPct val="150000"/>
              </a:lnSpc>
              <a:spcBef>
                <a:spcPts val="0"/>
              </a:spcBef>
              <a:spcAft>
                <a:spcPts val="0"/>
              </a:spcAft>
              <a:buSzPts val="1700"/>
              <a:buChar char=" "/>
            </a:pPr>
            <a:r>
              <a:rPr lang="ko-KR" sz="1700"/>
              <a:t>3. 최종 개발 목표                                                 </a:t>
            </a:r>
            <a:endParaRPr sz="1700"/>
          </a:p>
          <a:p>
            <a:pPr indent="-95250" lvl="0" marL="91440" rtl="0" algn="l">
              <a:lnSpc>
                <a:spcPct val="150000"/>
              </a:lnSpc>
              <a:spcBef>
                <a:spcPts val="0"/>
              </a:spcBef>
              <a:spcAft>
                <a:spcPts val="0"/>
              </a:spcAft>
              <a:buSzPts val="1500"/>
              <a:buChar char=" "/>
            </a:pPr>
            <a:r>
              <a:rPr lang="ko-KR" sz="1700"/>
              <a:t>&gt; NPC 7개 이상 개발 &amp; 멀티 구현 + 맵 완성</a:t>
            </a:r>
            <a:endParaRPr sz="1700"/>
          </a:p>
          <a:p>
            <a:pPr indent="-95250" lvl="0" marL="91440" rtl="0" algn="l">
              <a:lnSpc>
                <a:spcPct val="150000"/>
              </a:lnSpc>
              <a:spcBef>
                <a:spcPts val="0"/>
              </a:spcBef>
              <a:spcAft>
                <a:spcPts val="0"/>
              </a:spcAft>
              <a:buSzPts val="1500"/>
              <a:buChar char=" "/>
            </a:pPr>
            <a:r>
              <a:rPr lang="ko-KR" sz="1700"/>
              <a:t> 개발 세부 내용</a:t>
            </a:r>
            <a:endParaRPr sz="1700"/>
          </a:p>
          <a:p>
            <a:pPr indent="-95250" lvl="0" marL="91440" rtl="0" algn="l">
              <a:lnSpc>
                <a:spcPct val="150000"/>
              </a:lnSpc>
              <a:spcBef>
                <a:spcPts val="0"/>
              </a:spcBef>
              <a:spcAft>
                <a:spcPts val="0"/>
              </a:spcAft>
              <a:buSzPts val="1500"/>
              <a:buChar char=" "/>
            </a:pPr>
            <a:r>
              <a:rPr lang="ko-KR" sz="1700"/>
              <a:t>- 최소 7명 NPC 디자인 및 구현</a:t>
            </a:r>
            <a:endParaRPr sz="1700"/>
          </a:p>
          <a:p>
            <a:pPr indent="-95250" lvl="0" marL="91440" rtl="0" algn="l">
              <a:lnSpc>
                <a:spcPct val="150000"/>
              </a:lnSpc>
              <a:spcBef>
                <a:spcPts val="0"/>
              </a:spcBef>
              <a:spcAft>
                <a:spcPts val="0"/>
              </a:spcAft>
              <a:buSzPts val="1500"/>
              <a:buChar char=" "/>
            </a:pPr>
            <a:r>
              <a:rPr lang="ko-KR" sz="1700"/>
              <a:t>- 멀티플레이 매치메이킹/동기화 완성</a:t>
            </a:r>
            <a:endParaRPr sz="1700"/>
          </a:p>
          <a:p>
            <a:pPr indent="-95250" lvl="0" marL="91440" rtl="0" algn="l">
              <a:lnSpc>
                <a:spcPct val="150000"/>
              </a:lnSpc>
              <a:spcBef>
                <a:spcPts val="0"/>
              </a:spcBef>
              <a:spcAft>
                <a:spcPts val="0"/>
              </a:spcAft>
              <a:buSzPts val="1500"/>
              <a:buChar char=" "/>
            </a:pPr>
            <a:r>
              <a:rPr lang="ko-KR" sz="1700"/>
              <a:t>- 최종 맵 아트 &amp; 배경 배치</a:t>
            </a:r>
            <a:endParaRPr sz="1700"/>
          </a:p>
          <a:p>
            <a:pPr indent="-88900" lvl="0" marL="91440" rtl="0" algn="l">
              <a:lnSpc>
                <a:spcPct val="150000"/>
              </a:lnSpc>
              <a:spcBef>
                <a:spcPts val="0"/>
              </a:spcBef>
              <a:spcAft>
                <a:spcPts val="0"/>
              </a:spcAft>
              <a:buSzPts val="1400"/>
              <a:buChar char=" "/>
            </a:pPr>
            <a:r>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추억">
  <a:themeElements>
    <a:clrScheme name="추억">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